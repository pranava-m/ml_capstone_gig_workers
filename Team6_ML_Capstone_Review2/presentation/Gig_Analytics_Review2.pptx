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5664fb9-86da-ce4e-3158-91bf0c4d7ffe}">
          <p14:sldIdLst>
            <p14:sldId id="256"/>
            <p14:sldId id="257"/>
            <p14:sldId id="258"/>
            <p14:sldId id="259"/>
            <p14:sldId id="260"/>
          </p14:sldIdLst>
        </p14:section>
        <p14:section name="Classification Part B" id="{408539c3-f678-7502-340a-1333b9e1564f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lustering" id="{a80e90af-2369-4191-8033-1a45b28a9fab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App &amp; conclusion" id="{2586b6e8-80df-5e26-2ff8-e61785347d89}">
          <p14:sldIdLst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917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C1917"/>
                </a:solidFill>
                <a:latin typeface="+mj-lt"/>
              </a:rPr>
              <a:t>Test R² after GridSearchCV tuning (10 algorithms)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CDBFB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DBF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DBF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DBF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DBF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DBF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DBFB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DBFB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DBFB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DBFB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4573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K-Nearest Neighbors</c:v>
                  </c:pt>
                  <c:pt idx="1">
                    <c:v>Polynomial</c:v>
                  </c:pt>
                  <c:pt idx="2">
                    <c:v>Support Vector</c:v>
                  </c:pt>
                  <c:pt idx="3">
                    <c:v>Decision Tree</c:v>
                  </c:pt>
                  <c:pt idx="4">
                    <c:v>Ridge</c:v>
                  </c:pt>
                  <c:pt idx="5">
                    <c:v>ElasticNet</c:v>
                  </c:pt>
                  <c:pt idx="6">
                    <c:v>Linear</c:v>
                  </c:pt>
                  <c:pt idx="7">
                    <c:v>Lasso</c:v>
                  </c:pt>
                  <c:pt idx="8">
                    <c:v>Random Forest</c:v>
                  </c:pt>
                  <c:pt idx="9">
                    <c:v>Gradient Boosting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0.7195</c:v>
                </c:pt>
                <c:pt idx="1">
                  <c:v>0.7652</c:v>
                </c:pt>
                <c:pt idx="2">
                  <c:v>0.7685</c:v>
                </c:pt>
                <c:pt idx="3">
                  <c:v>0.7703</c:v>
                </c:pt>
                <c:pt idx="4">
                  <c:v>0.7743</c:v>
                </c:pt>
                <c:pt idx="5">
                  <c:v>0.7745</c:v>
                </c:pt>
                <c:pt idx="6">
                  <c:v>0.7749</c:v>
                </c:pt>
                <c:pt idx="7">
                  <c:v>0.7756</c:v>
                </c:pt>
                <c:pt idx="8">
                  <c:v>0.777</c:v>
                </c:pt>
                <c:pt idx="9">
                  <c:v>0.7941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3A3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6"/>
        </c:scaling>
        <c:delete val="0"/>
        <c:axPos val="b"/>
        <c:majorGridlines>
          <c:spPr>
            <a:ln w="6350" cap="flat">
              <a:solidFill>
                <a:srgbClr val="E8E0D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917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C1917"/>
                </a:solidFill>
                <a:latin typeface="+mj-lt"/>
              </a:rPr>
              <a:t>Test accuracy vs weighted F1 (always-Success accuracy = 0.621)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DBF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32E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SVM</c:v>
                  </c:pt>
                  <c:pt idx="1">
                    <c:v>Logistic Reg.</c:v>
                  </c:pt>
                  <c:pt idx="2">
                    <c:v>AdaBoost</c:v>
                  </c:pt>
                  <c:pt idx="3">
                    <c:v>MLP</c:v>
                  </c:pt>
                  <c:pt idx="4">
                    <c:v>Gradient Boosting</c:v>
                  </c:pt>
                  <c:pt idx="5">
                    <c:v>Naive Bayes</c:v>
                  </c:pt>
                  <c:pt idx="6">
                    <c:v>Random Forest</c:v>
                  </c:pt>
                  <c:pt idx="7">
                    <c:v>Bagging</c:v>
                  </c:pt>
                  <c:pt idx="8">
                    <c:v>KNN</c:v>
                  </c:pt>
                  <c:pt idx="9">
                    <c:v>Decision Tree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0.617</c:v>
                </c:pt>
                <c:pt idx="1">
                  <c:v>0.621</c:v>
                </c:pt>
                <c:pt idx="2">
                  <c:v>0.621</c:v>
                </c:pt>
                <c:pt idx="3">
                  <c:v>0.621</c:v>
                </c:pt>
                <c:pt idx="4">
                  <c:v>0.6185</c:v>
                </c:pt>
                <c:pt idx="5">
                  <c:v>0.6215</c:v>
                </c:pt>
                <c:pt idx="6">
                  <c:v>0.5725</c:v>
                </c:pt>
                <c:pt idx="7">
                  <c:v>0.585</c:v>
                </c:pt>
                <c:pt idx="8">
                  <c:v>0.5855</c:v>
                </c:pt>
                <c:pt idx="9">
                  <c:v>0.5815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F1</c:v>
                </c:pt>
              </c:strCache>
            </c:strRef>
          </c:tx>
          <c:spPr>
            <a:solidFill>
              <a:srgbClr val="C45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32E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SVM</c:v>
                  </c:pt>
                  <c:pt idx="1">
                    <c:v>Logistic Reg.</c:v>
                  </c:pt>
                  <c:pt idx="2">
                    <c:v>AdaBoost</c:v>
                  </c:pt>
                  <c:pt idx="3">
                    <c:v>MLP</c:v>
                  </c:pt>
                  <c:pt idx="4">
                    <c:v>Gradient Boosting</c:v>
                  </c:pt>
                  <c:pt idx="5">
                    <c:v>Naive Bayes</c:v>
                  </c:pt>
                  <c:pt idx="6">
                    <c:v>Random Forest</c:v>
                  </c:pt>
                  <c:pt idx="7">
                    <c:v>Bagging</c:v>
                  </c:pt>
                  <c:pt idx="8">
                    <c:v>KNN</c:v>
                  </c:pt>
                  <c:pt idx="9">
                    <c:v>Decision Tree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0.4757</c:v>
                </c:pt>
                <c:pt idx="1">
                  <c:v>0.4758</c:v>
                </c:pt>
                <c:pt idx="2">
                  <c:v>0.4758</c:v>
                </c:pt>
                <c:pt idx="3">
                  <c:v>0.4758</c:v>
                </c:pt>
                <c:pt idx="4">
                  <c:v>0.4767</c:v>
                </c:pt>
                <c:pt idx="5">
                  <c:v>0.4771</c:v>
                </c:pt>
                <c:pt idx="6">
                  <c:v>0.4805</c:v>
                </c:pt>
                <c:pt idx="7">
                  <c:v>0.4828</c:v>
                </c:pt>
                <c:pt idx="8">
                  <c:v>0.4833</c:v>
                </c:pt>
                <c:pt idx="9">
                  <c:v>0.4861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32E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b"/>
        <c:majorGridlines>
          <c:spPr>
            <a:ln w="6350" cap="flat">
              <a:solidFill>
                <a:srgbClr val="E8E0D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33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917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C1917"/>
                </a:solidFill>
                <a:latin typeface="+mj-lt"/>
              </a:rPr>
              <a:t>Documented improvement: weighted F1 before vs after tuning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tuning</c:v>
                </c:pt>
              </c:strCache>
            </c:strRef>
          </c:tx>
          <c:spPr>
            <a:solidFill>
              <a:srgbClr val="CDBFB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KNN</c:v>
                  </c:pt>
                  <c:pt idx="3">
                    <c:v>Bagging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0.4568</c:v>
                </c:pt>
                <c:pt idx="1">
                  <c:v>0.4739</c:v>
                </c:pt>
                <c:pt idx="2">
                  <c:v>0.4735</c:v>
                </c:pt>
                <c:pt idx="3">
                  <c:v>0.478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GridSearchCV</c:v>
                </c:pt>
              </c:strCache>
            </c:strRef>
          </c:tx>
          <c:spPr>
            <a:solidFill>
              <a:srgbClr val="4F7A6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KNN</c:v>
                  </c:pt>
                  <c:pt idx="3">
                    <c:v>Bagging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0.4805</c:v>
                </c:pt>
                <c:pt idx="1">
                  <c:v>0.4861</c:v>
                </c:pt>
                <c:pt idx="2">
                  <c:v>0.4833</c:v>
                </c:pt>
                <c:pt idx="3">
                  <c:v>0.4828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3A3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.44"/>
        </c:scaling>
        <c:delete val="0"/>
        <c:axPos val="l"/>
        <c:majorGridlines>
          <c:spPr>
            <a:ln w="6350" cap="flat">
              <a:solidFill>
                <a:srgbClr val="E8E0D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33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917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C1917"/>
                </a:solidFill>
                <a:latin typeface="+mj-lt"/>
              </a:rPr>
              <a:t>Elbow curve · K-Means inertia vs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1C1917"/>
            </a:solidFill>
            <a:ln w="25400" cap="flat">
              <a:solidFill>
                <a:srgbClr val="1C19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32E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1917"/>
              </a:solidFill>
              <a:ln w="9525" cap="flat">
                <a:solidFill>
                  <a:srgbClr val="1C19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52447.8931</c:v>
                </c:pt>
                <c:pt idx="1">
                  <c:v>47544.6991</c:v>
                </c:pt>
                <c:pt idx="2">
                  <c:v>43459.399</c:v>
                </c:pt>
                <c:pt idx="3">
                  <c:v>40065.77</c:v>
                </c:pt>
                <c:pt idx="4">
                  <c:v>37165.9175</c:v>
                </c:pt>
                <c:pt idx="5">
                  <c:v>34841.477</c:v>
                </c:pt>
                <c:pt idx="6">
                  <c:v>33249.4633</c:v>
                </c:pt>
                <c:pt idx="7">
                  <c:v>31877.8545</c:v>
                </c:pt>
                <c:pt idx="8">
                  <c:v>30667.9654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32E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71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7168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D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917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C1917"/>
                </a:solidFill>
                <a:latin typeface="+mj-lt"/>
              </a:rPr>
              <a:t>Silhouette vs k (flat: 0.128 – 0.136)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4F7A63"/>
            </a:solidFill>
            <a:ln w="25400" cap="flat">
              <a:solidFill>
                <a:srgbClr val="4F7A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32E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F7A63"/>
              </a:solidFill>
              <a:ln w="9525" cap="flat">
                <a:solidFill>
                  <a:srgbClr val="4F7A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0.1283</c:v>
                </c:pt>
                <c:pt idx="1">
                  <c:v>0.1293</c:v>
                </c:pt>
                <c:pt idx="2">
                  <c:v>0.1334</c:v>
                </c:pt>
                <c:pt idx="3">
                  <c:v>0.1303</c:v>
                </c:pt>
                <c:pt idx="4">
                  <c:v>0.1309</c:v>
                </c:pt>
                <c:pt idx="5">
                  <c:v>0.1329</c:v>
                </c:pt>
                <c:pt idx="6">
                  <c:v>0.129</c:v>
                </c:pt>
                <c:pt idx="7">
                  <c:v>0.1294</c:v>
                </c:pt>
                <c:pt idx="8">
                  <c:v>0.1364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32E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71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7168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6350" cap="flat">
              <a:solidFill>
                <a:srgbClr val="E8E0D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theme: gig drivers care about three things — what a trip pays, whether a booking will be completed, and what kinds of rides they do. Each question is answered with its own dataset and ML track. Review 2 adds Classification Part B, the full clustering track, documentation and the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track has its own Kaggle dataset, sampled and cleaned to 10,000 rows. Datasets are never mixed: every notebook and every app page uses exactly one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1 covered EDA, preprocessing, the regression track and classification Part A. Review 2 adds the five Part B classifiers with a 10-algorithm comparison, the complete clustering track, documentation, and the Streamlit app for the GUI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leakage control: preprocessing objects live inside scikit-learn Pipelines and are fitted on training data only; during cross-validation they are refitted per fold. Same 80/20 split with random_state 42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was assessed in Review 1; shown here only as context. Best model by the two-stage rule: Gradient Boosting, test R² 0.794, MAE $2.29. Random Forest, Gradient Boosting and Decision Tree were tied on repeated CV; the test set broke the tie. Note: Random Forest baseline is 0.7616 here vs 0.7627 in Review 1 because of a newer scikit-learn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A of the Review 2 rubric: 6 marks — Part B implementation, full comparison table, final model selection with tuning and a documented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Part B algorithm in one line and the hyperparameters the guideline asks to tune: RF n_estimators, AdaBoost n_estimators and learning rate, GBM, Bagging with a decision-tree base estimator, MLP hidden layer sizes and activation. All use the identical preprocessing and split as Part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A2: a single table of all 10 algorithms on accuracy, precision, recall, F1 and ROC-AUC. Point out the majority-class baseline row and the narrow spread of weighted F1 (0.476–0.486) and ROC-AUC (about 0.48–0.51).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viva point. Booking outcomes depend on driver supply, traffic and surge, which are not in the data. The EDA showed near-identical outcome mixes across vehicle types, hours and weekdays, and correlations of about 0.01. So all ten models cluster around the class prior, and ROC-AUC is about 0.5. We report this honestly against the majority-class baseline instead of quoting accuracy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A3: best model with justification, tuning applied, improvement documented. The rule was fixed before looking at the test set to avoid picking a lucky split. Decision Tree (max_depth 12, min_samples_leaf 10) wins the tie-break. Random Forest gained the most from 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 of the selected Decision Tree: 1,129 of 1,242 successes are correct, but recall on the cancellation classes is very low. The class_weight experiment trades accuracy for minority recall — useful to discuss trade-offs in the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 of the rubric: 8 marks — both algorithms fitted, all three metrics plus elbow and dendrogram, PCA plots for both, t-SNE for at least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Elbow curve is mandatory for K-Means. The silhouette curve is almost flat, which itself says the data has weak cluster structure. Using a pre-declared rule avoids cherry-picking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Dendrogram (Ward, 2,000-ride sample, last 40 merges) with the cut that gives 3 clusters. Four linkages compared on all 10,000 rides. Single linkage's 'high' silhouette is an artefact of one giant cluster — a good viva point about reading metrics critically.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B2: Silhouette, Davies-Bouldin and Calinski-Harabasz for both algorithms. K-Means is better on all three. Be honest that 0.13 silhouette means weak separation — the features are nearly uniform and uncorrelated.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B3: PCA scatter for every algorithm (mandatory) and t-SNE for at least one (we show both). PCA only captures 34% of variance, so clusters overlap in 2-D; t-SNE separates them more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Profiles are cluster means of the original features. CTAT is the average customer turnaround time in minutes. Fare and distance are almost identical across segments; what separates rides is turnaround time and driver 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criterion: a working web interface that accepts inputs and returns predictions. Demo: open Fares, change distance; open Bookings and show class probabilities; open Segments and move the sliders. Run with: streamlit run app/app.py.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page is tied to exactly one dataset and one model, so nothing is mixed. Every chart is generated from the cleaned CSVs and the saved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one finding per track and the honest limitations. Next steps map directly onto the weaknesses we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Likely viva questions: why weighted F1, why the baseline, why k = 3, why Ward, why scaling for KNN/SVM/K-Means, how leakage was avoided.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6035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58521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83464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6908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ANALYTICS  ·  TEAM 6  ·  REVIEW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MACHINE LEARNING  ·  CAPSTONE REVIEW 2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Gig Analytics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6118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ride is worth, how a booking ends, and which rides make up the work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640080" y="4983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6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 Vardhan  ·  CB.SC.U4CSE24719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Pranav  ·  CB.SC.U4CSE24730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Rahul Kumar  ·  CB.SC.U4CSE24766</a:t>
            </a:r>
            <a:endParaRPr lang="en-US" sz="1300" dirty="0"/>
          </a:p>
        </p:txBody>
      </p:sp>
      <p:pic>
        <p:nvPicPr>
          <p:cNvPr id="6" name="hero map" descr="/home/claude/deck/hero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77724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three datasets, three ML tracks</a:t>
            </a:r>
            <a:endParaRPr lang="en-US" sz="3200" dirty="0"/>
          </a:p>
        </p:txBody>
      </p:sp>
      <p:sp>
        <p:nvSpPr>
          <p:cNvPr id="3" name="track card 1"/>
          <p:cNvSpPr/>
          <p:nvPr/>
        </p:nvSpPr>
        <p:spPr>
          <a:xfrm>
            <a:off x="548640" y="1417320"/>
            <a:ext cx="3429000" cy="3611880"/>
          </a:xfrm>
          <a:prstGeom prst="roundRect">
            <a:avLst>
              <a:gd name="adj" fmla="val 3733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4" name="track num 1"/>
          <p:cNvSpPr/>
          <p:nvPr/>
        </p:nvSpPr>
        <p:spPr>
          <a:xfrm>
            <a:off x="868680" y="1783080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 Fares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is a trip worth?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cleaned 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fare_amount (USD)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algorithms · Review 1</a:t>
            </a:r>
            <a:endParaRPr lang="en-US" sz="1400" dirty="0"/>
          </a:p>
        </p:txBody>
      </p:sp>
      <p:sp>
        <p:nvSpPr>
          <p:cNvPr id="10" name="track card 2"/>
          <p:cNvSpPr/>
          <p:nvPr/>
        </p:nvSpPr>
        <p:spPr>
          <a:xfrm>
            <a:off x="4297680" y="1417320"/>
            <a:ext cx="3429000" cy="3611880"/>
          </a:xfrm>
          <a:prstGeom prst="roundRect">
            <a:avLst>
              <a:gd name="adj" fmla="val 3733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1" name="track num 2"/>
          <p:cNvSpPr/>
          <p:nvPr/>
        </p:nvSpPr>
        <p:spPr>
          <a:xfrm>
            <a:off x="4617720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423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 &amp; Uber Bookings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971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the booking be completed?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cleaned 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Booking_Status · 4 classes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(R1) + Part B (R2)</a:t>
            </a:r>
            <a:endParaRPr lang="en-US" sz="1400" dirty="0"/>
          </a:p>
        </p:txBody>
      </p:sp>
      <p:sp>
        <p:nvSpPr>
          <p:cNvPr id="17" name="track card 3"/>
          <p:cNvSpPr/>
          <p:nvPr/>
        </p:nvSpPr>
        <p:spPr>
          <a:xfrm>
            <a:off x="8046720" y="1417320"/>
            <a:ext cx="3429000" cy="3611880"/>
          </a:xfrm>
          <a:prstGeom prst="roundRect">
            <a:avLst>
              <a:gd name="adj" fmla="val 3733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8" name="track num 3"/>
          <p:cNvSpPr/>
          <p:nvPr/>
        </p:nvSpPr>
        <p:spPr>
          <a:xfrm>
            <a:off x="8366760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423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NCR Ride Bookings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971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kinds of rides make up the work?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cleaned 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no label (unsupervised)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Agglomerative · R2</a:t>
            </a:r>
            <a:endParaRPr lang="en-US" sz="1400" dirty="0"/>
          </a:p>
        </p:txBody>
      </p:sp>
      <p:sp>
        <p:nvSpPr>
          <p:cNvPr id="24" name="no mixing note"/>
          <p:cNvSpPr/>
          <p:nvPr/>
        </p:nvSpPr>
        <p:spPr>
          <a:xfrm>
            <a:off x="548640" y="5303520"/>
            <a:ext cx="11064240" cy="685800"/>
          </a:xfrm>
          <a:prstGeom prst="roundRect">
            <a:avLst>
              <a:gd name="adj" fmla="val 18667"/>
            </a:avLst>
          </a:prstGeom>
          <a:solidFill>
            <a:srgbClr val="F6F2EC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5349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 per track: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notebook, each saved model and each app page uses exactly one dataset, so results are never mixed.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Review 1 to Review 2</a:t>
            </a:r>
            <a:endParaRPr lang="en-US" sz="3200" dirty="0"/>
          </a:p>
        </p:txBody>
      </p:sp>
      <p:sp>
        <p:nvSpPr>
          <p:cNvPr id="3" name="review1 card"/>
          <p:cNvSpPr/>
          <p:nvPr/>
        </p:nvSpPr>
        <p:spPr>
          <a:xfrm>
            <a:off x="548640" y="1417320"/>
            <a:ext cx="5120640" cy="4480560"/>
          </a:xfrm>
          <a:prstGeom prst="roundRect">
            <a:avLst>
              <a:gd name="adj" fmla="val 2857"/>
            </a:avLst>
          </a:prstGeom>
          <a:solidFill>
            <a:srgbClr val="F6F2EC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ALREADY ASSESSED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audit, EDA and preprocessing for all tracks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all 10 algorithms trained and compared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Part A: Logistic Regression, KNN, Naive Bayes, Decision Tree, SVM</a:t>
            </a:r>
            <a:endParaRPr lang="en-US" sz="1500" dirty="0"/>
          </a:p>
        </p:txBody>
      </p:sp>
      <p:sp>
        <p:nvSpPr>
          <p:cNvPr id="6" name="review2 card"/>
          <p:cNvSpPr/>
          <p:nvPr/>
        </p:nvSpPr>
        <p:spPr>
          <a:xfrm>
            <a:off x="6035040" y="1417320"/>
            <a:ext cx="5577840" cy="44805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550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THIS PRESENTATION</a:t>
            </a:r>
            <a:endParaRPr lang="en-US" sz="1000" dirty="0"/>
          </a:p>
        </p:txBody>
      </p:sp>
      <p:sp>
        <p:nvSpPr>
          <p:cNvPr id="8" name="new item 1"/>
          <p:cNvSpPr/>
          <p:nvPr/>
        </p:nvSpPr>
        <p:spPr>
          <a:xfrm>
            <a:off x="6355080" y="21488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130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Part 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45973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AdaBoost, Gradient Boosting, Bagging, MLP — one table of all 10</a:t>
            </a:r>
            <a:endParaRPr lang="en-US" sz="1250" dirty="0"/>
          </a:p>
        </p:txBody>
      </p:sp>
      <p:sp>
        <p:nvSpPr>
          <p:cNvPr id="12" name="new item 2"/>
          <p:cNvSpPr/>
          <p:nvPr/>
        </p:nvSpPr>
        <p:spPr>
          <a:xfrm>
            <a:off x="6355080" y="30449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0266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clustering track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3558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and Agglomerative, all three metrics, elbow, dendrogram, PCA, t-SNE</a:t>
            </a:r>
            <a:endParaRPr lang="en-US" sz="1250" dirty="0"/>
          </a:p>
        </p:txBody>
      </p:sp>
      <p:sp>
        <p:nvSpPr>
          <p:cNvPr id="16" name="new item 3"/>
          <p:cNvSpPr/>
          <p:nvPr/>
        </p:nvSpPr>
        <p:spPr>
          <a:xfrm>
            <a:off x="6355080" y="394106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922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&amp; repository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251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clean notebooks, README, requirements.txt, saved models</a:t>
            </a:r>
            <a:endParaRPr lang="en-US" sz="1250" dirty="0"/>
          </a:p>
        </p:txBody>
      </p:sp>
      <p:sp>
        <p:nvSpPr>
          <p:cNvPr id="20" name="new item 4"/>
          <p:cNvSpPr/>
          <p:nvPr/>
        </p:nvSpPr>
        <p:spPr>
          <a:xfrm>
            <a:off x="6355080" y="483717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4837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8188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 (bonus)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5148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one page per dataset, graphs and live predictions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leak-free pipeline behind every track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828800"/>
            <a:ext cx="1691640" cy="23774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4" name="step num 1"/>
          <p:cNvSpPr/>
          <p:nvPr/>
        </p:nvSpPr>
        <p:spPr>
          <a:xfrm>
            <a:off x="777240" y="21031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EDA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types, missing values, distributions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21992" y="27889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tep 2"/>
          <p:cNvSpPr/>
          <p:nvPr/>
        </p:nvSpPr>
        <p:spPr>
          <a:xfrm>
            <a:off x="2441448" y="1828800"/>
            <a:ext cx="1691640" cy="23774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0" name="step num 2"/>
          <p:cNvSpPr/>
          <p:nvPr/>
        </p:nvSpPr>
        <p:spPr>
          <a:xfrm>
            <a:off x="2670048" y="21031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004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engineer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distance, drop post-outcome fields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7889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tep 3"/>
          <p:cNvSpPr/>
          <p:nvPr/>
        </p:nvSpPr>
        <p:spPr>
          <a:xfrm>
            <a:off x="4334256" y="1828800"/>
            <a:ext cx="1691640" cy="23774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6" name="step num 3"/>
          <p:cNvSpPr/>
          <p:nvPr/>
        </p:nvSpPr>
        <p:spPr>
          <a:xfrm>
            <a:off x="4562856" y="21031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2856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80 / 20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for classification, random_state = 42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07608" y="27889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tep 4"/>
          <p:cNvSpPr/>
          <p:nvPr/>
        </p:nvSpPr>
        <p:spPr>
          <a:xfrm>
            <a:off x="6227064" y="1828800"/>
            <a:ext cx="1691640" cy="23774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22" name="step num 4"/>
          <p:cNvSpPr/>
          <p:nvPr/>
        </p:nvSpPr>
        <p:spPr>
          <a:xfrm>
            <a:off x="6455664" y="210312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5566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encode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55664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the training set only, inside a Pipeline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900416" y="27889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tep 5"/>
          <p:cNvSpPr/>
          <p:nvPr/>
        </p:nvSpPr>
        <p:spPr>
          <a:xfrm>
            <a:off x="8119872" y="1828800"/>
            <a:ext cx="1691640" cy="23774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28" name="step num 5"/>
          <p:cNvSpPr/>
          <p:nvPr/>
        </p:nvSpPr>
        <p:spPr>
          <a:xfrm>
            <a:off x="8348472" y="21031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4847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48472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&amp; tune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348472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cell per algorithm, GridSearchCV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93224" y="27889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tep 6"/>
          <p:cNvSpPr/>
          <p:nvPr/>
        </p:nvSpPr>
        <p:spPr>
          <a:xfrm>
            <a:off x="10012680" y="1828800"/>
            <a:ext cx="1691640" cy="23774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34" name="step num 6"/>
          <p:cNvSpPr/>
          <p:nvPr/>
        </p:nvSpPr>
        <p:spPr>
          <a:xfrm>
            <a:off x="10241280" y="21031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4128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export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CV rule, models saved for the app</a:t>
            </a:r>
            <a:endParaRPr lang="en-US" sz="1200" dirty="0"/>
          </a:p>
        </p:txBody>
      </p:sp>
      <p:sp>
        <p:nvSpPr>
          <p:cNvPr id="38" name="leakage note"/>
          <p:cNvSpPr/>
          <p:nvPr/>
        </p:nvSpPr>
        <p:spPr>
          <a:xfrm>
            <a:off x="548640" y="4572000"/>
            <a:ext cx="11064240" cy="1325880"/>
          </a:xfrm>
          <a:prstGeom prst="roundRect">
            <a:avLst>
              <a:gd name="adj" fmla="val 9655"/>
            </a:avLst>
          </a:prstGeom>
          <a:solidFill>
            <a:srgbClr val="F6F2EC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6868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" y="5074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and one-hot encoder are refitted inside every cross-validation fold, so no information from validation or test rows leaks into training (guideline 7.1). Every model in a track sees the identical split, so metric comparisons are fair (guideline 7.2).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recap: Gradient Boosting prices trips best</a:t>
            </a:r>
            <a:endParaRPr lang="en-US" sz="3200" dirty="0"/>
          </a:p>
        </p:txBody>
      </p:sp>
      <p:graphicFrame>
        <p:nvGraphicFramePr>
          <p:cNvPr id="3" name="regression chart" descr=""/>
          <p:cNvGraphicFramePr/>
          <p:nvPr/>
        </p:nvGraphicFramePr>
        <p:xfrm>
          <a:off x="548640" y="132588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gression stats"/>
          <p:cNvSpPr/>
          <p:nvPr/>
        </p:nvSpPr>
        <p:spPr>
          <a:xfrm>
            <a:off x="7680960" y="1417320"/>
            <a:ext cx="3931920" cy="4480560"/>
          </a:xfrm>
          <a:prstGeom prst="roundRect">
            <a:avLst>
              <a:gd name="adj" fmla="val 3256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5" name="stat r2"/>
          <p:cNvSpPr txBox="1"/>
          <p:nvPr/>
        </p:nvSpPr>
        <p:spPr>
          <a:xfrm>
            <a:off x="8046720" y="1645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0.794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· Gradient Boosting Regressor</a:t>
            </a:r>
            <a:endParaRPr lang="en-US" sz="1100" dirty="0"/>
          </a:p>
        </p:txBody>
      </p:sp>
      <p:sp>
        <p:nvSpPr>
          <p:cNvPr id="7" name="stat mae"/>
          <p:cNvSpPr txBox="1"/>
          <p:nvPr/>
        </p:nvSpPr>
        <p:spPr>
          <a:xfrm>
            <a:off x="8046720" y="2971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$2.29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9" name="stat cv"/>
          <p:cNvSpPr txBox="1"/>
          <p:nvPr/>
        </p:nvSpPr>
        <p:spPr>
          <a:xfrm>
            <a:off x="969264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0.748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692640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repeated-CV R²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434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(Haversine) carries 98% of the importance. Adding pickup year lifts test R² to 0.815.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40080" y="10972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83464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· Part B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0690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ensemble and neural-network classifiers on the same Ola &amp; Uber bookings, the same split and the same preprocessing as Part A — then one comparison of all ten.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B: five algorithms, each tuned with GridSearchCV</a:t>
            </a:r>
            <a:endParaRPr lang="en-US" sz="3200" dirty="0"/>
          </a:p>
        </p:txBody>
      </p:sp>
      <p:sp>
        <p:nvSpPr>
          <p:cNvPr id="3" name="partB 6"/>
          <p:cNvSpPr/>
          <p:nvPr/>
        </p:nvSpPr>
        <p:spPr>
          <a:xfrm>
            <a:off x="548640" y="1371600"/>
            <a:ext cx="342900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4" name="partB num 6"/>
          <p:cNvSpPr/>
          <p:nvPr/>
        </p:nvSpPr>
        <p:spPr>
          <a:xfrm>
            <a:off x="822960" y="164592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73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de-correlated trees on bootstrap samples, majority vote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n_estimators 100 · max_depth 16</a:t>
            </a:r>
            <a:endParaRPr lang="en-US" sz="1100" dirty="0"/>
          </a:p>
        </p:txBody>
      </p:sp>
      <p:sp>
        <p:nvSpPr>
          <p:cNvPr id="9" name="partB 7"/>
          <p:cNvSpPr/>
          <p:nvPr/>
        </p:nvSpPr>
        <p:spPr>
          <a:xfrm>
            <a:off x="4297680" y="1371600"/>
            <a:ext cx="342900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0" name="partB num 7"/>
          <p:cNvSpPr/>
          <p:nvPr/>
        </p:nvSpPr>
        <p:spPr>
          <a:xfrm>
            <a:off x="4572000" y="164592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673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240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Re-weights misclassified bookings; stumps vote by accuracy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926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n_estimators 50 · learning_rate 0.05</a:t>
            </a:r>
            <a:endParaRPr lang="en-US" sz="1100" dirty="0"/>
          </a:p>
        </p:txBody>
      </p:sp>
      <p:sp>
        <p:nvSpPr>
          <p:cNvPr id="15" name="partB 8"/>
          <p:cNvSpPr/>
          <p:nvPr/>
        </p:nvSpPr>
        <p:spPr>
          <a:xfrm>
            <a:off x="8046720" y="1371600"/>
            <a:ext cx="342900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6" name="partB num 8"/>
          <p:cNvSpPr/>
          <p:nvPr/>
        </p:nvSpPr>
        <p:spPr>
          <a:xfrm>
            <a:off x="8321040" y="164592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1673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240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trees fitted to the gradient of the log-loss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926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n_estimators 100 · learning_rate 0.1 · depth 3</a:t>
            </a:r>
            <a:endParaRPr lang="en-US" sz="1100" dirty="0"/>
          </a:p>
        </p:txBody>
      </p:sp>
      <p:sp>
        <p:nvSpPr>
          <p:cNvPr id="21" name="partB 9"/>
          <p:cNvSpPr/>
          <p:nvPr/>
        </p:nvSpPr>
        <p:spPr>
          <a:xfrm>
            <a:off x="548640" y="3749040"/>
            <a:ext cx="342900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22" name="partB num 9"/>
          <p:cNvSpPr/>
          <p:nvPr/>
        </p:nvSpPr>
        <p:spPr>
          <a:xfrm>
            <a:off x="822960" y="40233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0507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617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trees on bootstrap samples (no feature sub-sampling)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303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50 trees · max_samples 0.5</a:t>
            </a:r>
            <a:endParaRPr lang="en-US" sz="1100" dirty="0"/>
          </a:p>
        </p:txBody>
      </p:sp>
      <p:sp>
        <p:nvSpPr>
          <p:cNvPr id="27" name="partB 10"/>
          <p:cNvSpPr/>
          <p:nvPr/>
        </p:nvSpPr>
        <p:spPr>
          <a:xfrm>
            <a:off x="4297680" y="3749040"/>
            <a:ext cx="342900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28" name="partB num 10"/>
          <p:cNvSpPr/>
          <p:nvPr/>
        </p:nvSpPr>
        <p:spPr>
          <a:xfrm>
            <a:off x="4572000" y="40233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40507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neural network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617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+ back-propagation, early stopping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5303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hidden (32,) · tanh · alpha 1e-4</a:t>
            </a:r>
            <a:endParaRPr lang="en-US" sz="1100" dirty="0"/>
          </a:p>
        </p:txBody>
      </p:sp>
      <p:sp>
        <p:nvSpPr>
          <p:cNvPr id="33" name="partB summary"/>
          <p:cNvSpPr/>
          <p:nvPr/>
        </p:nvSpPr>
        <p:spPr>
          <a:xfrm>
            <a:off x="8046720" y="374904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6F2EC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32104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CONDITIONS AS PART A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343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Booking_Value, hour, Vehicle_Type, day_of_week. Stratified 80/20 split, 5-fold stratified CV, scored on weighted F1.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ten classifiers in one table</a:t>
            </a:r>
            <a:endParaRPr lang="en-US" sz="32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"/>
                <a:gridCol w="868680"/>
                <a:gridCol w="868680"/>
                <a:gridCol w="777240"/>
                <a:gridCol w="960120"/>
                <a:gridCol w="868680"/>
                <a:gridCol w="777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(weighted)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(macro)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 (Gaussian)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Majority-class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Neural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Vector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ble reading"/>
          <p:cNvSpPr/>
          <p:nvPr/>
        </p:nvSpPr>
        <p:spPr>
          <a:xfrm>
            <a:off x="9098280" y="1325880"/>
            <a:ext cx="2514600" cy="452628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937260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372600" y="1920240"/>
            <a:ext cx="20116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weighted F1 (the Review 1 metric).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selected model.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row = always predicting “Success”. Every model sits within about 0.01 of it on weighted F1.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classifier escapes the class prior</a:t>
            </a:r>
            <a:endParaRPr lang="en-US" sz="3200" dirty="0"/>
          </a:p>
        </p:txBody>
      </p:sp>
      <p:graphicFrame>
        <p:nvGraphicFramePr>
          <p:cNvPr id="3" name="accuracy f1 chart" descr=""/>
          <p:cNvGraphicFramePr/>
          <p:nvPr/>
        </p:nvGraphicFramePr>
        <p:xfrm>
          <a:off x="548640" y="132588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inding 1"/>
          <p:cNvSpPr/>
          <p:nvPr/>
        </p:nvSpPr>
        <p:spPr>
          <a:xfrm>
            <a:off x="7863840" y="1371600"/>
            <a:ext cx="374904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5" name="finding stat 1"/>
          <p:cNvSpPr txBox="1"/>
          <p:nvPr/>
        </p:nvSpPr>
        <p:spPr>
          <a:xfrm>
            <a:off x="8183880" y="13898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62.1%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bookings succeed: the always-“Success” baseline</a:t>
            </a:r>
            <a:endParaRPr lang="en-US" sz="1100" dirty="0"/>
          </a:p>
        </p:txBody>
      </p:sp>
      <p:sp>
        <p:nvSpPr>
          <p:cNvPr id="7" name="finding 2"/>
          <p:cNvSpPr/>
          <p:nvPr/>
        </p:nvSpPr>
        <p:spPr>
          <a:xfrm>
            <a:off x="7863840" y="2944368"/>
            <a:ext cx="374904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8" name="finding stat 2"/>
          <p:cNvSpPr txBox="1"/>
          <p:nvPr/>
        </p:nvSpPr>
        <p:spPr>
          <a:xfrm>
            <a:off x="8183880" y="296265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0.50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37856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for every model — chance level</a:t>
            </a:r>
            <a:endParaRPr lang="en-US" sz="1100" dirty="0"/>
          </a:p>
        </p:txBody>
      </p:sp>
      <p:sp>
        <p:nvSpPr>
          <p:cNvPr id="10" name="finding 3"/>
          <p:cNvSpPr/>
          <p:nvPr/>
        </p:nvSpPr>
        <p:spPr>
          <a:xfrm>
            <a:off x="7863840" y="4517136"/>
            <a:ext cx="374904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1" name="finding stat 3"/>
          <p:cNvSpPr txBox="1"/>
          <p:nvPr/>
        </p:nvSpPr>
        <p:spPr>
          <a:xfrm>
            <a:off x="8183880" y="45354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53583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|correlation| of any feature with the outcome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chosen by a rule declared in advance</a:t>
            </a:r>
            <a:endParaRPr lang="en-US" sz="3200" dirty="0"/>
          </a:p>
        </p:txBody>
      </p:sp>
      <p:sp>
        <p:nvSpPr>
          <p:cNvPr id="3" name="selection rule"/>
          <p:cNvSpPr/>
          <p:nvPr/>
        </p:nvSpPr>
        <p:spPr>
          <a:xfrm>
            <a:off x="548640" y="1371600"/>
            <a:ext cx="512064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</a:t>
            </a:r>
            <a:endParaRPr lang="en-US" sz="1000" dirty="0"/>
          </a:p>
        </p:txBody>
      </p:sp>
      <p:sp>
        <p:nvSpPr>
          <p:cNvPr id="5" name="rule 1"/>
          <p:cNvSpPr/>
          <p:nvPr/>
        </p:nvSpPr>
        <p:spPr>
          <a:xfrm>
            <a:off x="868680" y="20116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93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Shortlist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134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GridSearch CV weighted F1</a:t>
            </a:r>
            <a:endParaRPr lang="en-US" sz="1250" dirty="0"/>
          </a:p>
        </p:txBody>
      </p:sp>
      <p:sp>
        <p:nvSpPr>
          <p:cNvPr id="9" name="rule 2"/>
          <p:cNvSpPr/>
          <p:nvPr/>
        </p:nvSpPr>
        <p:spPr>
          <a:xfrm>
            <a:off x="868680" y="28803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862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CV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82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folds × 3 repeats on training data</a:t>
            </a:r>
            <a:endParaRPr lang="en-US" sz="1250" dirty="0"/>
          </a:p>
        </p:txBody>
      </p:sp>
      <p:sp>
        <p:nvSpPr>
          <p:cNvPr id="13" name="rule 3"/>
          <p:cNvSpPr/>
          <p:nvPr/>
        </p:nvSpPr>
        <p:spPr>
          <a:xfrm>
            <a:off x="868680" y="374904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30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 group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507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0.005 of the best: DT, RF, KNN, Bagging</a:t>
            </a:r>
            <a:endParaRPr lang="en-US" sz="1250" dirty="0"/>
          </a:p>
        </p:txBody>
      </p:sp>
      <p:sp>
        <p:nvSpPr>
          <p:cNvPr id="17" name="rule 4"/>
          <p:cNvSpPr/>
          <p:nvPr/>
        </p:nvSpPr>
        <p:spPr>
          <a:xfrm>
            <a:off x="868680" y="46177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99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Tie-break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9194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test weighted F1 → Decision Tree</a:t>
            </a:r>
            <a:endParaRPr lang="en-US" sz="1250" dirty="0"/>
          </a:p>
        </p:txBody>
      </p:sp>
      <p:graphicFrame>
        <p:nvGraphicFramePr>
          <p:cNvPr id="21" name="tuning chart" descr=""/>
          <p:cNvGraphicFramePr/>
          <p:nvPr/>
        </p:nvGraphicFramePr>
        <p:xfrm>
          <a:off x="6035040" y="132588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6172200" y="50749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+0.024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for Random Forest (0.457 → 0.481); 4 of 10 models improved by tuning.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errors are, and what re-weighting does</a:t>
            </a:r>
            <a:endParaRPr lang="en-US" sz="3200" dirty="0"/>
          </a:p>
        </p:txBody>
      </p:sp>
      <p:graphicFrame>
        <p:nvGraphicFramePr>
          <p:cNvPr id="12" name="confusion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7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↓  Predicted 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Cust. cancel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cancel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Cust. cancel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A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cancel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C5B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BD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73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34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2,000 test bookings. Diagonal = correct. Almost every booking is predicted “Success”.</a:t>
            </a:r>
            <a:endParaRPr lang="en-US" sz="1200" dirty="0"/>
          </a:p>
        </p:txBody>
      </p:sp>
      <p:sp>
        <p:nvSpPr>
          <p:cNvPr id="5" name="imbalance experiment"/>
          <p:cNvSpPr/>
          <p:nvPr/>
        </p:nvSpPr>
        <p:spPr>
          <a:xfrm>
            <a:off x="6949440" y="1371600"/>
            <a:ext cx="466344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26948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· CLASS_WEIGHT = BALANCED</a:t>
            </a:r>
            <a:endParaRPr lang="en-US" sz="1000" dirty="0"/>
          </a:p>
        </p:txBody>
      </p:sp>
      <p:sp>
        <p:nvSpPr>
          <p:cNvPr id="7" name="stat recall"/>
          <p:cNvSpPr txBox="1"/>
          <p:nvPr/>
        </p:nvSpPr>
        <p:spPr>
          <a:xfrm>
            <a:off x="726948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0.23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minority-class recall (Logistic Regression)</a:t>
            </a:r>
            <a:endParaRPr lang="en-US" sz="1100" dirty="0"/>
          </a:p>
        </p:txBody>
      </p:sp>
      <p:sp>
        <p:nvSpPr>
          <p:cNvPr id="9" name="stat acc"/>
          <p:cNvSpPr txBox="1"/>
          <p:nvPr/>
        </p:nvSpPr>
        <p:spPr>
          <a:xfrm>
            <a:off x="941832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 → 0.24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(Logistic Regression)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3429000"/>
            <a:ext cx="4069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Re-weighting makes the model start flagging cancellations, but most flags are wrong because the features carry little signal. Which setting is better is a business choice: is a missed cancellation costlier than a false alert? The app shows class probabilities rather than a single label.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40080" y="10972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83464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· NCR rides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0690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completed rides grouped without labels on fare, distance, turnaround times and the two ratings. K-Means vs Agglomerative clustering.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k: the elbow decides when silhouette is flat</a:t>
            </a:r>
            <a:endParaRPr lang="en-US" sz="3200" dirty="0"/>
          </a:p>
        </p:txBody>
      </p:sp>
      <p:graphicFrame>
        <p:nvGraphicFramePr>
          <p:cNvPr id="3" name="elbow chart" descr=""/>
          <p:cNvGraphicFramePr/>
          <p:nvPr/>
        </p:nvGraphicFramePr>
        <p:xfrm>
          <a:off x="548640" y="1325880"/>
          <a:ext cx="4480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silhouette chart" descr=""/>
          <p:cNvGraphicFramePr/>
          <p:nvPr/>
        </p:nvGraphicFramePr>
        <p:xfrm>
          <a:off x="5212080" y="1325880"/>
          <a:ext cx="4480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k result"/>
          <p:cNvSpPr/>
          <p:nvPr/>
        </p:nvSpPr>
        <p:spPr>
          <a:xfrm>
            <a:off x="9966960" y="1371600"/>
            <a:ext cx="1645920" cy="320040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6" name="stat k"/>
          <p:cNvSpPr txBox="1"/>
          <p:nvPr/>
        </p:nvSpPr>
        <p:spPr>
          <a:xfrm>
            <a:off x="10149840" y="1737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3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1014984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both algorithms</a:t>
            </a:r>
            <a:endParaRPr lang="en-US" sz="1100" dirty="0"/>
          </a:p>
        </p:txBody>
      </p:sp>
      <p:sp>
        <p:nvSpPr>
          <p:cNvPr id="8" name="k rule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F6F2EC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6868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(declared in advance): </a:t>
            </a:r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decides only if it varies by ≥ 0.02 across k. Here it varies by just 0.008, so its maximum at k = 10 would be noise at the edge of the search range; the elbow (largest bend in inertia) gives k = 3.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Agglomerative clustering: dendrogram and linkage choice</a:t>
            </a:r>
            <a:endParaRPr lang="en-US" sz="3200" dirty="0"/>
          </a:p>
        </p:txBody>
      </p:sp>
      <p:sp>
        <p:nvSpPr>
          <p:cNvPr id="3" name="dendrogram frame"/>
          <p:cNvSpPr/>
          <p:nvPr/>
        </p:nvSpPr>
        <p:spPr>
          <a:xfrm>
            <a:off x="548640" y="1371600"/>
            <a:ext cx="676656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pic>
        <p:nvPicPr>
          <p:cNvPr id="4" name="dendrogram" descr="/home/claude/deck/dend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72554"/>
            <a:ext cx="6492240" cy="2124372"/>
          </a:xfrm>
          <a:prstGeom prst="rect">
            <a:avLst/>
          </a:prstGeom>
        </p:spPr>
      </p:pic>
      <p:graphicFrame>
        <p:nvGraphicFramePr>
          <p:cNvPr id="15" name="linkag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960120"/>
                <a:gridCol w="1143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1,755 rides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1,521 rides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589520" y="352044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linkage looks best on silhouette,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puts 9,998 of 10,000 rides in one cluster. Ward is chosen: the best Calinski-Harabasz among linkages whose smallest cluster holds at least 5% of rides.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wins on all three mandatory metrics</a:t>
            </a:r>
            <a:endParaRPr lang="en-US" sz="3200" dirty="0"/>
          </a:p>
        </p:txBody>
      </p:sp>
      <p:sp>
        <p:nvSpPr>
          <p:cNvPr id="3" name="metric 1"/>
          <p:cNvSpPr/>
          <p:nvPr/>
        </p:nvSpPr>
        <p:spPr>
          <a:xfrm>
            <a:off x="548640" y="1417320"/>
            <a:ext cx="3429000" cy="32004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84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100" dirty="0"/>
          </a:p>
        </p:txBody>
      </p:sp>
      <p:sp>
        <p:nvSpPr>
          <p:cNvPr id="6" name="km 0"/>
          <p:cNvSpPr txBox="1"/>
          <p:nvPr/>
        </p:nvSpPr>
        <p:spPr>
          <a:xfrm>
            <a:off x="86868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0.129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</p:txBody>
      </p:sp>
      <p:sp>
        <p:nvSpPr>
          <p:cNvPr id="8" name="ag 0"/>
          <p:cNvSpPr txBox="1"/>
          <p:nvPr/>
        </p:nvSpPr>
        <p:spPr>
          <a:xfrm>
            <a:off x="233172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(ward)</a:t>
            </a:r>
            <a:endParaRPr lang="en-US" sz="1100" dirty="0"/>
          </a:p>
        </p:txBody>
      </p:sp>
      <p:sp>
        <p:nvSpPr>
          <p:cNvPr id="10" name="metric 2"/>
          <p:cNvSpPr/>
          <p:nvPr/>
        </p:nvSpPr>
        <p:spPr>
          <a:xfrm>
            <a:off x="4297680" y="1417320"/>
            <a:ext cx="3429000" cy="32004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1691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984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100" dirty="0"/>
          </a:p>
        </p:txBody>
      </p:sp>
      <p:sp>
        <p:nvSpPr>
          <p:cNvPr id="13" name="km 1"/>
          <p:cNvSpPr txBox="1"/>
          <p:nvPr/>
        </p:nvSpPr>
        <p:spPr>
          <a:xfrm>
            <a:off x="461772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</p:txBody>
      </p:sp>
      <p:sp>
        <p:nvSpPr>
          <p:cNvPr id="15" name="ag 1"/>
          <p:cNvSpPr txBox="1"/>
          <p:nvPr/>
        </p:nvSpPr>
        <p:spPr>
          <a:xfrm>
            <a:off x="608076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2.61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(ward)</a:t>
            </a:r>
            <a:endParaRPr lang="en-US" sz="1100" dirty="0"/>
          </a:p>
        </p:txBody>
      </p:sp>
      <p:sp>
        <p:nvSpPr>
          <p:cNvPr id="17" name="metric 3"/>
          <p:cNvSpPr/>
          <p:nvPr/>
        </p:nvSpPr>
        <p:spPr>
          <a:xfrm>
            <a:off x="8046720" y="1417320"/>
            <a:ext cx="3429000" cy="32004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66760" y="1691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1984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100" dirty="0"/>
          </a:p>
        </p:txBody>
      </p:sp>
      <p:sp>
        <p:nvSpPr>
          <p:cNvPr id="20" name="km 2"/>
          <p:cNvSpPr txBox="1"/>
          <p:nvPr/>
        </p:nvSpPr>
        <p:spPr>
          <a:xfrm>
            <a:off x="836676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1,309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</p:txBody>
      </p:sp>
      <p:sp>
        <p:nvSpPr>
          <p:cNvPr id="22" name="ag 2"/>
          <p:cNvSpPr txBox="1"/>
          <p:nvPr/>
        </p:nvSpPr>
        <p:spPr>
          <a:xfrm>
            <a:off x="982980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989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82980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(ward)</a:t>
            </a:r>
            <a:endParaRPr lang="en-US" sz="1100" dirty="0"/>
          </a:p>
        </p:txBody>
      </p:sp>
      <p:sp>
        <p:nvSpPr>
          <p:cNvPr id="24" name="clustering verdict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12727"/>
            </a:avLst>
          </a:prstGeom>
          <a:solidFill>
            <a:srgbClr val="F6F2EC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 = 3) is selected. Silhouette ≈ 0.13 is modest: the rides form a continuum, so clusters are best read as useful profiles rather than natural types. Agreement between the two algorithms: ARI = 0.18.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segments: PCA for both algorithms, t-SNE</a:t>
            </a:r>
            <a:endParaRPr lang="en-US" sz="3200" dirty="0"/>
          </a:p>
        </p:txBody>
      </p:sp>
      <p:sp>
        <p:nvSpPr>
          <p:cNvPr id="3" name="pca frame"/>
          <p:cNvSpPr/>
          <p:nvPr/>
        </p:nvSpPr>
        <p:spPr>
          <a:xfrm>
            <a:off x="548640" y="1371600"/>
            <a:ext cx="5486400" cy="3611880"/>
          </a:xfrm>
          <a:prstGeom prst="roundRect">
            <a:avLst>
              <a:gd name="adj" fmla="val 3544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pic>
        <p:nvPicPr>
          <p:cNvPr id="4" name="pca plots" descr="/home/claude/pkg/notebooks/figures/clu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45297"/>
            <a:ext cx="5212080" cy="19615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2-D (34% of variance) · left K-Means, right Agglomerative</a:t>
            </a:r>
            <a:endParaRPr lang="en-US" sz="1100" dirty="0"/>
          </a:p>
        </p:txBody>
      </p:sp>
      <p:sp>
        <p:nvSpPr>
          <p:cNvPr id="6" name="tsne frame"/>
          <p:cNvSpPr/>
          <p:nvPr/>
        </p:nvSpPr>
        <p:spPr>
          <a:xfrm>
            <a:off x="6126480" y="1371600"/>
            <a:ext cx="5486400" cy="3611880"/>
          </a:xfrm>
          <a:prstGeom prst="roundRect">
            <a:avLst>
              <a:gd name="adj" fmla="val 3544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pic>
        <p:nvPicPr>
          <p:cNvPr id="7" name="tsne plots" descr="/home/claude/pkg/notebooks/figures/clu_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45297"/>
            <a:ext cx="5212080" cy="196156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on a 3,000-ride sample · same two algorithms</a:t>
            </a:r>
            <a:endParaRPr lang="en-US" sz="1100" dirty="0"/>
          </a:p>
        </p:txBody>
      </p:sp>
      <p:sp>
        <p:nvSpPr>
          <p:cNvPr id="9" name="projection note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17500"/>
            </a:avLst>
          </a:prstGeom>
          <a:solidFill>
            <a:srgbClr val="F6F2EC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68680" y="5257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plots: </a:t>
            </a:r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keeps only 34% of the variance, so the segments overlap in 2-D; t-SNE preserves local neighbourhoods and shows the three groups more clearly.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ride segments a driver would recognise</a:t>
            </a:r>
            <a:endParaRPr lang="en-US" sz="3200" dirty="0"/>
          </a:p>
        </p:txBody>
      </p:sp>
      <p:sp>
        <p:nvSpPr>
          <p:cNvPr id="3" name="segment 0"/>
          <p:cNvSpPr/>
          <p:nvPr/>
        </p:nvSpPr>
        <p:spPr>
          <a:xfrm>
            <a:off x="548640" y="1371600"/>
            <a:ext cx="3429000" cy="3337560"/>
          </a:xfrm>
          <a:prstGeom prst="roundRect">
            <a:avLst>
              <a:gd name="adj" fmla="val 3836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0 · 4,030 RIDES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turnaround</a:t>
            </a:r>
            <a:endParaRPr lang="en-US" sz="2000" dirty="0"/>
          </a:p>
        </p:txBody>
      </p:sp>
      <p:sp>
        <p:nvSpPr>
          <p:cNvPr id="6" name="seg stat 0"/>
          <p:cNvSpPr txBox="1"/>
          <p:nvPr/>
        </p:nvSpPr>
        <p:spPr>
          <a:xfrm>
            <a:off x="868680" y="25603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22.4 min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CTAT · low turnaround time, well-rated drivers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₹504 · 25.5 km · driver 4.39</a:t>
            </a:r>
            <a:endParaRPr lang="en-US" sz="1100" dirty="0"/>
          </a:p>
        </p:txBody>
      </p:sp>
      <p:sp>
        <p:nvSpPr>
          <p:cNvPr id="9" name="segment 1"/>
          <p:cNvSpPr/>
          <p:nvPr/>
        </p:nvSpPr>
        <p:spPr>
          <a:xfrm>
            <a:off x="4297680" y="1371600"/>
            <a:ext cx="3429000" cy="3337560"/>
          </a:xfrm>
          <a:prstGeom prst="roundRect">
            <a:avLst>
              <a:gd name="adj" fmla="val 3836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1645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 · 1,971 RIDES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011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Low-rated drivers</a:t>
            </a:r>
            <a:endParaRPr lang="en-US" sz="2000" dirty="0"/>
          </a:p>
        </p:txBody>
      </p:sp>
      <p:sp>
        <p:nvSpPr>
          <p:cNvPr id="12" name="seg stat 1"/>
          <p:cNvSpPr txBox="1"/>
          <p:nvPr/>
        </p:nvSpPr>
        <p:spPr>
          <a:xfrm>
            <a:off x="4617720" y="25603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3.54 ★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383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Ratings · every other feature close to average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₹494 · 26.7 km · driver 3.54</a:t>
            </a:r>
            <a:endParaRPr lang="en-US" sz="1100" dirty="0"/>
          </a:p>
        </p:txBody>
      </p:sp>
      <p:sp>
        <p:nvSpPr>
          <p:cNvPr id="15" name="segment 2"/>
          <p:cNvSpPr/>
          <p:nvPr/>
        </p:nvSpPr>
        <p:spPr>
          <a:xfrm>
            <a:off x="8046720" y="1371600"/>
            <a:ext cx="3429000" cy="3337560"/>
          </a:xfrm>
          <a:prstGeom prst="roundRect">
            <a:avLst>
              <a:gd name="adj" fmla="val 3836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66760" y="1645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 · 3,999 RIDES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011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turnaround</a:t>
            </a:r>
            <a:endParaRPr lang="en-US" sz="2000" dirty="0"/>
          </a:p>
        </p:txBody>
      </p:sp>
      <p:sp>
        <p:nvSpPr>
          <p:cNvPr id="18" name="seg stat 2"/>
          <p:cNvSpPr txBox="1"/>
          <p:nvPr/>
        </p:nvSpPr>
        <p:spPr>
          <a:xfrm>
            <a:off x="8366760" y="25603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37.9 min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383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CTAT · long turnaround time, well-rated drivers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₹512 · 26.6 km · driver 4.41</a:t>
            </a:r>
            <a:endParaRPr lang="en-US" sz="1100" dirty="0"/>
          </a:p>
        </p:txBody>
      </p:sp>
      <p:sp>
        <p:nvSpPr>
          <p:cNvPr id="21" name="posthoc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13333"/>
            </a:avLst>
          </a:prstGeom>
          <a:solidFill>
            <a:srgbClr val="F6F2EC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" y="5029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check: </a:t>
            </a:r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do not line up with vehicle type or payment method (ARI ≈ 0.00). They are driven by service-time and rating behaviour, not by the service class — labels were used only after fitting.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app: one page per dataset</a:t>
            </a:r>
            <a:endParaRPr lang="en-US" sz="3200" dirty="0"/>
          </a:p>
        </p:txBody>
      </p:sp>
      <p:sp>
        <p:nvSpPr>
          <p:cNvPr id="3" name="app frame"/>
          <p:cNvSpPr/>
          <p:nvPr/>
        </p:nvSpPr>
        <p:spPr>
          <a:xfrm>
            <a:off x="548640" y="1371600"/>
            <a:ext cx="731520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pic>
        <p:nvPicPr>
          <p:cNvPr id="4" name="app overview" descr="/home/claude/deck/app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54493"/>
            <a:ext cx="7040880" cy="3960495"/>
          </a:xfrm>
          <a:prstGeom prst="rect">
            <a:avLst/>
          </a:prstGeom>
        </p:spPr>
      </p:pic>
      <p:sp>
        <p:nvSpPr>
          <p:cNvPr id="5" name="app pt 1"/>
          <p:cNvSpPr/>
          <p:nvPr/>
        </p:nvSpPr>
        <p:spPr>
          <a:xfrm>
            <a:off x="8183880" y="14630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444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177393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questions and each track's best model</a:t>
            </a:r>
            <a:endParaRPr lang="en-US" sz="1200" dirty="0"/>
          </a:p>
        </p:txBody>
      </p:sp>
      <p:sp>
        <p:nvSpPr>
          <p:cNvPr id="9" name="app pt 2"/>
          <p:cNvSpPr/>
          <p:nvPr/>
        </p:nvSpPr>
        <p:spPr>
          <a:xfrm>
            <a:off x="8183880" y="25603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388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Fares · Bookings · Segments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28712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charts, full algorithm comparison, best-model diagnostics</a:t>
            </a:r>
            <a:endParaRPr lang="en-US" sz="1200" dirty="0"/>
          </a:p>
        </p:txBody>
      </p:sp>
      <p:sp>
        <p:nvSpPr>
          <p:cNvPr id="13" name="app pt 3"/>
          <p:cNvSpPr/>
          <p:nvPr/>
        </p:nvSpPr>
        <p:spPr>
          <a:xfrm>
            <a:off x="8183880" y="365760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3639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396849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accepts inputs and returns a prediction from its own model</a:t>
            </a:r>
            <a:endParaRPr lang="en-US" sz="1200" dirty="0"/>
          </a:p>
        </p:txBody>
      </p:sp>
      <p:sp>
        <p:nvSpPr>
          <p:cNvPr id="17" name="app pt 4"/>
          <p:cNvSpPr/>
          <p:nvPr/>
        </p:nvSpPr>
        <p:spPr>
          <a:xfrm>
            <a:off x="8183880" y="47548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8388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0" y="4736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506577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Plotly, reads the models saved by the notebooks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app: bookings and segments</a:t>
            </a:r>
            <a:endParaRPr lang="en-US" sz="3200" dirty="0"/>
          </a:p>
        </p:txBody>
      </p:sp>
      <p:sp>
        <p:nvSpPr>
          <p:cNvPr id="3" name="bookings frame"/>
          <p:cNvSpPr/>
          <p:nvPr/>
        </p:nvSpPr>
        <p:spPr>
          <a:xfrm>
            <a:off x="548640" y="1371600"/>
            <a:ext cx="5486400" cy="3611880"/>
          </a:xfrm>
          <a:prstGeom prst="roundRect">
            <a:avLst>
              <a:gd name="adj" fmla="val 3544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pic>
        <p:nvPicPr>
          <p:cNvPr id="4" name="app bookings" descr="/home/claude/deck/app_book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1331"/>
            <a:ext cx="5212080" cy="29317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553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page · KPIs, outcome mix, 10-model comparison</a:t>
            </a:r>
            <a:endParaRPr lang="en-US" sz="1100" dirty="0"/>
          </a:p>
        </p:txBody>
      </p:sp>
      <p:sp>
        <p:nvSpPr>
          <p:cNvPr id="6" name="segments frame"/>
          <p:cNvSpPr/>
          <p:nvPr/>
        </p:nvSpPr>
        <p:spPr>
          <a:xfrm>
            <a:off x="6126480" y="1371600"/>
            <a:ext cx="5486400" cy="3611880"/>
          </a:xfrm>
          <a:prstGeom prst="roundRect">
            <a:avLst>
              <a:gd name="adj" fmla="val 3544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pic>
        <p:nvPicPr>
          <p:cNvPr id="7" name="app segments" descr="/home/claude/deck/app_seg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1331"/>
            <a:ext cx="5212080" cy="29317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0" y="4553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page · PCA view, profiles, live segment assignment</a:t>
            </a:r>
            <a:endParaRPr lang="en-US" sz="1100" dirty="0"/>
          </a:p>
        </p:txBody>
      </p:sp>
      <p:sp>
        <p:nvSpPr>
          <p:cNvPr id="9" name="app note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17500"/>
            </a:avLst>
          </a:prstGeom>
          <a:solidFill>
            <a:srgbClr val="F6F2EC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68680" y="5257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</a:t>
            </a:r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app/app.py  ·  every chart is generated from the cleaned CSVs and the results saved by the notebooks.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learned, and what comes next</a:t>
            </a:r>
            <a:endParaRPr lang="en-US" sz="3200" dirty="0"/>
          </a:p>
        </p:txBody>
      </p:sp>
      <p:sp>
        <p:nvSpPr>
          <p:cNvPr id="3" name="conclusion 1"/>
          <p:cNvSpPr/>
          <p:nvPr/>
        </p:nvSpPr>
        <p:spPr>
          <a:xfrm>
            <a:off x="548640" y="1371600"/>
            <a:ext cx="3429000" cy="283464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4" name="concl num 1"/>
          <p:cNvSpPr/>
          <p:nvPr/>
        </p:nvSpPr>
        <p:spPr>
          <a:xfrm>
            <a:off x="822960" y="1645920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82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Fares are predictable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Boosting: R² 0.794, MAE $2.29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does almost all the 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pickup year → R² 0.815</a:t>
            </a:r>
            <a:endParaRPr lang="en-US" sz="1400" dirty="0"/>
          </a:p>
        </p:txBody>
      </p:sp>
      <p:sp>
        <p:nvSpPr>
          <p:cNvPr id="8" name="conclusion 2"/>
          <p:cNvSpPr/>
          <p:nvPr/>
        </p:nvSpPr>
        <p:spPr>
          <a:xfrm>
            <a:off x="4297680" y="1371600"/>
            <a:ext cx="3429000" cy="283464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9" name="concl num 2"/>
          <p:cNvSpPr/>
          <p:nvPr/>
        </p:nvSpPr>
        <p:spPr>
          <a:xfrm>
            <a:off x="4572000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82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outcomes are not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classifiers ≈ class prior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≈ 0.5 for every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supply, surge, traffic</a:t>
            </a:r>
            <a:endParaRPr lang="en-US" sz="1400" dirty="0"/>
          </a:p>
        </p:txBody>
      </p:sp>
      <p:sp>
        <p:nvSpPr>
          <p:cNvPr id="13" name="conclusion 3"/>
          <p:cNvSpPr/>
          <p:nvPr/>
        </p:nvSpPr>
        <p:spPr>
          <a:xfrm>
            <a:off x="8046720" y="1371600"/>
            <a:ext cx="3429000" cy="283464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4" name="concl num 3"/>
          <p:cNvSpPr/>
          <p:nvPr/>
        </p:nvSpPr>
        <p:spPr>
          <a:xfrm>
            <a:off x="8321040" y="164592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82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Rides form soft segments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3317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k = 3, best on all metrics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driven by turnaround &amp; rating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0.13: a continuum</a:t>
            </a:r>
            <a:endParaRPr lang="en-US" sz="1400" dirty="0"/>
          </a:p>
        </p:txBody>
      </p:sp>
      <p:sp>
        <p:nvSpPr>
          <p:cNvPr id="18" name="next steps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9333"/>
            </a:avLst>
          </a:prstGeom>
          <a:solidFill>
            <a:srgbClr val="F6F2EC"/>
          </a:solidFill>
          <a:ln w="9525">
            <a:solidFill>
              <a:srgbClr val="E4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6A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0749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driver-supply, surge and zone data to the booking model · retrain the fare model with the year effect · try density-based clustering (DBSCAN / HDBSCAN) · deploy the app publicly on Streamlit Community Cloud.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6118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Notebooks, models, data and app are in the repository</a:t>
            </a:r>
            <a:endParaRPr lang="en-US" sz="2200" dirty="0"/>
          </a:p>
        </p:txBody>
      </p:sp>
      <p:sp>
        <p:nvSpPr>
          <p:cNvPr id="5" name="repo"/>
          <p:cNvSpPr txBox="1"/>
          <p:nvPr/>
        </p:nvSpPr>
        <p:spPr>
          <a:xfrm>
            <a:off x="640080" y="48006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notebooks/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regression · classification · clustering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app/app.py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streamlit run app/app.py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setup, results and how to run</a:t>
            </a:r>
            <a:endParaRPr lang="en-US" sz="1300" dirty="0"/>
          </a:p>
        </p:txBody>
      </p:sp>
      <p:pic>
        <p:nvPicPr>
          <p:cNvPr id="6" name="closing map" descr="/home/claude/deck/hero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77724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g Analytics Calm">
  <a:themeElements>
    <a:clrScheme name="Gig Analytics Calm">
      <a:dk1>
        <a:srgbClr val="1C1917"/>
      </a:dk1>
      <a:lt1>
        <a:srgbClr val="FFFFFF"/>
      </a:lt1>
      <a:dk2>
        <a:srgbClr val="3A332E"/>
      </a:dk2>
      <a:lt2>
        <a:srgbClr val="F6F2EC"/>
      </a:lt2>
      <a:accent1>
        <a:srgbClr val="C4573A"/>
      </a:accent1>
      <a:accent2>
        <a:srgbClr val="4F7A63"/>
      </a:accent2>
      <a:accent3>
        <a:srgbClr val="CDBFB2"/>
      </a:accent3>
      <a:accent4>
        <a:srgbClr val="A8735A"/>
      </a:accent4>
      <a:accent5>
        <a:srgbClr val="2F3A45"/>
      </a:accent5>
      <a:accent6>
        <a:srgbClr val="D9A441"/>
      </a:accent6>
      <a:hlink>
        <a:srgbClr val="C4573A"/>
      </a:hlink>
      <a:folHlink>
        <a:srgbClr val="A8735A"/>
      </a:folHlink>
    </a:clrScheme>
    <a:fontScheme name="Gig Analytics Cal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 Analytics — Capstone Review 2</dc:title>
  <dc:subject>23CSE301 Machine Learning Capstone — Review 2</dc:subject>
  <dc:creator>Team 6</dc:creator>
  <cp:lastModifiedBy>Team 6</cp:lastModifiedBy>
  <cp:revision>1</cp:revision>
  <dcterms:created xsi:type="dcterms:W3CDTF">2026-10-10T22:35:41Z</dcterms:created>
  <dcterms:modified xsi:type="dcterms:W3CDTF">2026-10-10T22:35:41Z</dcterms:modified>
</cp:coreProperties>
</file>